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7" r:id="rId4"/>
    <p:sldId id="272" r:id="rId5"/>
    <p:sldId id="278" r:id="rId6"/>
    <p:sldId id="269" r:id="rId7"/>
    <p:sldId id="277" r:id="rId8"/>
    <p:sldId id="279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3C9E9C00-1E4D-4CA7-A91A-3A13E8CC2D6C}">
          <p14:sldIdLst>
            <p14:sldId id="256"/>
            <p14:sldId id="258"/>
            <p14:sldId id="267"/>
          </p14:sldIdLst>
        </p14:section>
        <p14:section name="Раздел без заголовка" id="{63A22421-C0C6-41B7-BEDC-1CB8454E3FF0}">
          <p14:sldIdLst>
            <p14:sldId id="272"/>
            <p14:sldId id="278"/>
            <p14:sldId id="269"/>
            <p14:sldId id="277"/>
            <p14:sldId id="279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A00"/>
    <a:srgbClr val="1C36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/>
    <p:restoredTop sz="86395"/>
  </p:normalViewPr>
  <p:slideViewPr>
    <p:cSldViewPr snapToGrid="0" showGuides="1">
      <p:cViewPr varScale="1">
        <p:scale>
          <a:sx n="96" d="100"/>
          <a:sy n="96" d="100"/>
        </p:scale>
        <p:origin x="384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218295342163267"/>
          <c:y val="4.4519752539008889E-2"/>
          <c:w val="0.8278170465783673"/>
          <c:h val="0.73283127988564112"/>
        </c:manualLayout>
      </c:layout>
      <c:lineChart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Кол-во проб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Лист1!$A$2:$A$4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cat>
          <c:val>
            <c:numRef>
              <c:f>Лист1!$B$2:$B$4</c:f>
              <c:numCache>
                <c:formatCode>General</c:formatCode>
                <c:ptCount val="3"/>
                <c:pt idx="0">
                  <c:v>2000</c:v>
                </c:pt>
                <c:pt idx="1">
                  <c:v>4000</c:v>
                </c:pt>
                <c:pt idx="2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5C2-4BBA-B976-EEE6F1165A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9406624"/>
        <c:axId val="919407584"/>
      </c:lineChart>
      <c:catAx>
        <c:axId val="919406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9407584"/>
        <c:crosses val="autoZero"/>
        <c:auto val="1"/>
        <c:lblAlgn val="ctr"/>
        <c:lblOffset val="100"/>
        <c:noMultiLvlLbl val="0"/>
      </c:catAx>
      <c:valAx>
        <c:axId val="919407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19406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687096161191351"/>
          <c:y val="5.595002213400186E-2"/>
          <c:w val="0.74636117692083048"/>
          <c:h val="0.570371347421618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приложением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Количество отсортированных проб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62-46E9-BCC5-DCBD635AD4F2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Без приложения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Количество отсортированных проб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62-46E9-BCC5-DCBD635AD4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8141008"/>
        <c:axId val="1228145808"/>
      </c:barChart>
      <c:catAx>
        <c:axId val="1228141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28145808"/>
        <c:crosses val="autoZero"/>
        <c:auto val="1"/>
        <c:lblAlgn val="ctr"/>
        <c:lblOffset val="100"/>
        <c:noMultiLvlLbl val="0"/>
      </c:catAx>
      <c:valAx>
        <c:axId val="1228145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228141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2.6260502217465374E-2"/>
          <c:y val="0.81536020986736157"/>
          <c:w val="0.95227698690677276"/>
          <c:h val="0.1676339474026034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531393455187524"/>
          <c:y val="6.1962895364169421E-2"/>
          <c:w val="0.78427144309891839"/>
          <c:h val="0.5746664262631380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С приложением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Время на поиск</c:v>
                </c:pt>
              </c:strCache>
            </c:strRef>
          </c:cat>
          <c:val>
            <c:numRef>
              <c:f>Лист1!$B$2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00-4F47-A788-8DDBF8DB87CB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Без приложения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Лист1!$A$2</c:f>
              <c:strCache>
                <c:ptCount val="1"/>
                <c:pt idx="0">
                  <c:v>Время на поиск</c:v>
                </c:pt>
              </c:strCache>
            </c:strRef>
          </c:cat>
          <c:val>
            <c:numRef>
              <c:f>Лист1!$C$2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A00-4F47-A788-8DDBF8DB87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4514784"/>
        <c:axId val="1324517184"/>
      </c:barChart>
      <c:catAx>
        <c:axId val="13245147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24517184"/>
        <c:crosses val="autoZero"/>
        <c:auto val="1"/>
        <c:lblAlgn val="ctr"/>
        <c:lblOffset val="100"/>
        <c:noMultiLvlLbl val="0"/>
      </c:catAx>
      <c:valAx>
        <c:axId val="1324517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245147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2685463822352131E-2"/>
          <c:y val="0.72684795242728328"/>
          <c:w val="0.9536613692095921"/>
          <c:h val="0.2370748081917112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3B00C-81D1-4348-BA13-4FBA71387832}" type="datetimeFigureOut">
              <a:rPr lang="ru-RU" smtClean="0"/>
              <a:t>15.09.2026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D61D23-F953-AA47-9898-DE4CE443DB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637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61D23-F953-AA47-9898-DE4CE443DB6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18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61D23-F953-AA47-9898-DE4CE443DB6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3533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D61D23-F953-AA47-9898-DE4CE443DB6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644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rgbClr val="1C36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3A60ADE6-3DA5-D5F3-FBCD-E464FA355A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2182505"/>
            <a:ext cx="5170343" cy="124649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87618BB-0523-9BDD-4BFA-4862552399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1475" y="278121"/>
            <a:ext cx="3222817" cy="596914"/>
          </a:xfrm>
          <a:prstGeom prst="rect">
            <a:avLst/>
          </a:prstGeom>
        </p:spPr>
      </p:pic>
      <p:sp>
        <p:nvSpPr>
          <p:cNvPr id="23" name="Текст 22">
            <a:extLst>
              <a:ext uri="{FF2B5EF4-FFF2-40B4-BE49-F238E27FC236}">
                <a16:creationId xmlns:a16="http://schemas.microsoft.com/office/drawing/2014/main" id="{A0E572E0-2F5A-4004-85DB-B43C7DD63B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1475" y="6044030"/>
            <a:ext cx="5724525" cy="257369"/>
          </a:xfrm>
          <a:prstGeom prst="rect">
            <a:avLst/>
          </a:prstGeom>
        </p:spPr>
        <p:txBody>
          <a:bodyPr wrap="square" lIns="0" tIns="0" rIns="0" bIns="72000">
            <a:spAutoFit/>
          </a:bodyPr>
          <a:lstStyle>
            <a:lvl1pPr marL="0" indent="0">
              <a:lnSpc>
                <a:spcPct val="100000"/>
              </a:lnSpc>
              <a:spcBef>
                <a:spcPts val="70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НАСТАВНИК: ФИО, ДОЛЖНОСТЬ, ПРЕДПРИЯТИЕ</a:t>
            </a:r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807B7F71-6CC6-682D-FE30-C108D4181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3458168"/>
            <a:ext cx="5170343" cy="649166"/>
          </a:xfrm>
          <a:prstGeom prst="rect">
            <a:avLst/>
          </a:prstGeom>
        </p:spPr>
        <p:txBody>
          <a:bodyPr wrap="square" lIns="0" tIns="396000" rIns="0" bIns="0">
            <a:spAutoFit/>
          </a:bodyPr>
          <a:lstStyle>
            <a:lvl1pPr marL="0" indent="0">
              <a:spcBef>
                <a:spcPts val="700"/>
              </a:spcBef>
              <a:buNone/>
              <a:defRPr sz="1800" b="0" i="0">
                <a:solidFill>
                  <a:srgbClr val="FF9A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ФИО, ДОЛЖНОСТЬ, ПРЕДПРИЯТИЕ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97D1DE6-B656-EE42-E101-F2AA257652F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658171" y="263151"/>
            <a:ext cx="1467619" cy="2700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ABE25C8-F72C-99E6-E3B4-64C4855E19C9}"/>
              </a:ext>
            </a:extLst>
          </p:cNvPr>
          <p:cNvSpPr txBox="1"/>
          <p:nvPr userDrawn="1"/>
        </p:nvSpPr>
        <p:spPr>
          <a:xfrm>
            <a:off x="10111670" y="329435"/>
            <a:ext cx="170885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ПРИЛОЖЕНИЕ 2</a:t>
            </a:r>
            <a:br>
              <a:rPr lang="ru-RU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12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 ПОЛОЖЕНИЮ О НПК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D9427BAD-5986-79EC-F9D7-9DB8EC294EA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475" y="6305034"/>
            <a:ext cx="572452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70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КУРАТОР: ФИО, ДОЛЖНОСТЬ, ПРЕДПРИЯТИЕ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E6DA8A6-DC2C-3EAA-43FE-A86A161698E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7240609" y="1625600"/>
            <a:ext cx="6399875" cy="63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9709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4088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4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лючевая мысль, вывод или фраза">
    <p:bg>
      <p:bgPr>
        <a:solidFill>
          <a:srgbClr val="1C36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Текст 22">
            <a:extLst>
              <a:ext uri="{FF2B5EF4-FFF2-40B4-BE49-F238E27FC236}">
                <a16:creationId xmlns:a16="http://schemas.microsoft.com/office/drawing/2014/main" id="{807B7F71-6CC6-682D-FE30-C108D4181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1475" y="3458168"/>
            <a:ext cx="3946525" cy="4985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700"/>
              </a:spcBef>
              <a:buNone/>
              <a:defRPr sz="1800" b="0" i="0">
                <a:solidFill>
                  <a:srgbClr val="FF9A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dirty="0"/>
              <a:t>Шаблон для ключевой мысли, вывода или фразы</a:t>
            </a:r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81243B2D-6E2E-5BF0-21A1-75A272B4B0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1475" y="368300"/>
            <a:ext cx="5330507" cy="1246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DEAE54E-49A4-2CF2-D3B8-09268A2336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 rot="1423865" flipH="1">
            <a:off x="7193225" y="-267089"/>
            <a:ext cx="2262678" cy="22421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FB573E-B1C4-350C-A1C1-51AC260815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351291" y="1449406"/>
            <a:ext cx="4224692" cy="418640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65F080A-86F6-0489-40B6-A797A31D98C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 rot="20592354" flipH="1">
            <a:off x="7202758" y="3980080"/>
            <a:ext cx="3488466" cy="345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67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4088">
          <p15:clr>
            <a:srgbClr val="FBAE40"/>
          </p15:clr>
        </p15:guide>
        <p15:guide id="5" pos="234">
          <p15:clr>
            <a:srgbClr val="FBAE40"/>
          </p15:clr>
        </p15:guide>
        <p15:guide id="6" pos="744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 презентаци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DD6F98-4436-2BC7-81C3-0ED42BBA892E}"/>
              </a:ext>
            </a:extLst>
          </p:cNvPr>
          <p:cNvSpPr/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C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B5CD889C-1573-D675-8BC9-B4C7094D2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6" y="368300"/>
            <a:ext cx="558598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СОДЕРЖАНИЕ ПРЕЗЕНТАЦИИ</a:t>
            </a:r>
          </a:p>
        </p:txBody>
      </p:sp>
      <p:sp>
        <p:nvSpPr>
          <p:cNvPr id="4" name="Текст 12">
            <a:extLst>
              <a:ext uri="{FF2B5EF4-FFF2-40B4-BE49-F238E27FC236}">
                <a16:creationId xmlns:a16="http://schemas.microsoft.com/office/drawing/2014/main" id="{67573E35-F240-101B-E4DE-3D89D4C92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3429000"/>
            <a:ext cx="6099175" cy="2136995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288000" indent="-288000">
              <a:buClr>
                <a:srgbClr val="FF9A00"/>
              </a:buClr>
              <a:buSzPct val="100000"/>
              <a:buFont typeface="Системный шрифт, обычный"/>
              <a:buChar char="→"/>
              <a:defRPr sz="18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Цели и задачи работы. Слайд №</a:t>
            </a:r>
          </a:p>
          <a:p>
            <a:pPr lvl="0"/>
            <a:r>
              <a:rPr lang="ru-RU" dirty="0"/>
              <a:t>Описательная часть. Слайд №</a:t>
            </a:r>
          </a:p>
          <a:p>
            <a:pPr lvl="0"/>
            <a:r>
              <a:rPr lang="ru-RU" dirty="0"/>
              <a:t>Ожидаемые/достигнутые результаты. Слайд №</a:t>
            </a:r>
          </a:p>
          <a:p>
            <a:pPr lvl="0"/>
            <a:r>
              <a:rPr lang="ru-RU" dirty="0"/>
              <a:t>Экономические расчеты. Слайд №</a:t>
            </a:r>
          </a:p>
          <a:p>
            <a:pPr lvl="0"/>
            <a:r>
              <a:rPr lang="ru-RU" dirty="0"/>
              <a:t>Выводы. Слайд №</a:t>
            </a:r>
          </a:p>
          <a:p>
            <a:pPr lvl="0"/>
            <a:r>
              <a:rPr lang="ru-RU" dirty="0"/>
              <a:t>Приложение. Слайд №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0D209-AC24-68DE-B5D9-1FF1E820E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97713" y="278121"/>
            <a:ext cx="3222812" cy="59691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7B0FF190-35AB-B5B0-D958-97F5BF67A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518751"/>
            <a:ext cx="572452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810D7-5388-6C6C-3D7F-6DFF13CE8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713" y="6446524"/>
            <a:ext cx="1203324" cy="2213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1EAF38-C432-B09B-2F4A-4F5A204F3038}"/>
              </a:ext>
            </a:extLst>
          </p:cNvPr>
          <p:cNvSpPr txBox="1"/>
          <p:nvPr userDrawn="1"/>
        </p:nvSpPr>
        <p:spPr>
          <a:xfrm>
            <a:off x="10210799" y="6518751"/>
            <a:ext cx="160972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lnSpc>
                <a:spcPct val="90000"/>
              </a:lnSpc>
            </a:pPr>
            <a:fld id="{7B794551-3B11-E540-97EB-90C0BE6FAB8A}" type="slidenum">
              <a:rPr lang="ru-RU" sz="10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>
                <a:lnSpc>
                  <a:spcPct val="90000"/>
                </a:lnSpc>
              </a:pPr>
              <a:t>‹#›</a:t>
            </a:fld>
            <a:endParaRPr lang="ru-RU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913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3978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109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ели и задачи ПЗ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DD6F98-4436-2BC7-81C3-0ED42BBA892E}"/>
              </a:ext>
            </a:extLst>
          </p:cNvPr>
          <p:cNvSpPr/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C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B5CD889C-1573-D675-8BC9-B4C7094D2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68300"/>
            <a:ext cx="572452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ЦЕЛИ И ЗАДАЧИ ПЗ</a:t>
            </a:r>
          </a:p>
        </p:txBody>
      </p:sp>
      <p:sp>
        <p:nvSpPr>
          <p:cNvPr id="4" name="Текст 12">
            <a:extLst>
              <a:ext uri="{FF2B5EF4-FFF2-40B4-BE49-F238E27FC236}">
                <a16:creationId xmlns:a16="http://schemas.microsoft.com/office/drawing/2014/main" id="{67573E35-F240-101B-E4DE-3D89D4C92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736725"/>
            <a:ext cx="5724525" cy="2492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buClr>
                <a:srgbClr val="FF9A00"/>
              </a:buClr>
              <a:buSzPct val="100000"/>
              <a:buFont typeface="Системный шрифт, обычный"/>
              <a:buNone/>
              <a:defRPr sz="18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Проблематика/актуальность выбранной темы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0D209-AC24-68DE-B5D9-1FF1E820E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97713" y="278121"/>
            <a:ext cx="3222812" cy="59691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7B0FF190-35AB-B5B0-D958-97F5BF67A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518751"/>
            <a:ext cx="572452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810D7-5388-6C6C-3D7F-6DFF13CE8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713" y="6446524"/>
            <a:ext cx="1203324" cy="2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9074A3-AE95-4BCB-9482-5F88199C098A}"/>
              </a:ext>
            </a:extLst>
          </p:cNvPr>
          <p:cNvSpPr txBox="1"/>
          <p:nvPr userDrawn="1"/>
        </p:nvSpPr>
        <p:spPr>
          <a:xfrm>
            <a:off x="10210799" y="6518751"/>
            <a:ext cx="160972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lnSpc>
                <a:spcPct val="90000"/>
              </a:lnSpc>
            </a:pPr>
            <a:fld id="{7B794551-3B11-E540-97EB-90C0BE6FAB8A}" type="slidenum">
              <a:rPr lang="ru-RU" sz="10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>
                <a:lnSpc>
                  <a:spcPct val="90000"/>
                </a:lnSpc>
              </a:pPr>
              <a:t>‹#›</a:t>
            </a:fld>
            <a:endParaRPr lang="ru-RU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048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3978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109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писательная част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DD6F98-4436-2BC7-81C3-0ED42BBA892E}"/>
              </a:ext>
            </a:extLst>
          </p:cNvPr>
          <p:cNvSpPr/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C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B5CD889C-1573-D675-8BC9-B4C7094D2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68300"/>
            <a:ext cx="572452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ОПИСАТЕЛЬНАЯ ЧАСТЬ</a:t>
            </a:r>
          </a:p>
        </p:txBody>
      </p:sp>
      <p:sp>
        <p:nvSpPr>
          <p:cNvPr id="4" name="Текст 12">
            <a:extLst>
              <a:ext uri="{FF2B5EF4-FFF2-40B4-BE49-F238E27FC236}">
                <a16:creationId xmlns:a16="http://schemas.microsoft.com/office/drawing/2014/main" id="{67573E35-F240-101B-E4DE-3D89D4C92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6" y="1736725"/>
            <a:ext cx="5131254" cy="7478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buClr>
                <a:srgbClr val="FF9A00"/>
              </a:buClr>
              <a:buSzPct val="100000"/>
              <a:buFont typeface="Системный шрифт, обычный"/>
              <a:buNone/>
              <a:defRPr sz="18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Не более 16 слайдов, с отражением содержания. ПЗ структурировано, емко, наглядно, информативно.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0D209-AC24-68DE-B5D9-1FF1E820E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97713" y="278121"/>
            <a:ext cx="3222812" cy="59691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7B0FF190-35AB-B5B0-D958-97F5BF67A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518751"/>
            <a:ext cx="572452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810D7-5388-6C6C-3D7F-6DFF13CE8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713" y="6446524"/>
            <a:ext cx="1203324" cy="2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31D77F-1681-EAB5-B239-3ACBC094EB22}"/>
              </a:ext>
            </a:extLst>
          </p:cNvPr>
          <p:cNvSpPr txBox="1"/>
          <p:nvPr userDrawn="1"/>
        </p:nvSpPr>
        <p:spPr>
          <a:xfrm>
            <a:off x="10210799" y="6518751"/>
            <a:ext cx="160972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lnSpc>
                <a:spcPct val="90000"/>
              </a:lnSpc>
            </a:pPr>
            <a:fld id="{7B794551-3B11-E540-97EB-90C0BE6FAB8A}" type="slidenum">
              <a:rPr lang="ru-RU" sz="10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>
                <a:lnSpc>
                  <a:spcPct val="90000"/>
                </a:lnSpc>
              </a:pPr>
              <a:t>‹#›</a:t>
            </a:fld>
            <a:endParaRPr lang="ru-RU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440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3978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109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еханизмы реализаци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DD6F98-4436-2BC7-81C3-0ED42BBA892E}"/>
              </a:ext>
            </a:extLst>
          </p:cNvPr>
          <p:cNvSpPr/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C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B5CD889C-1573-D675-8BC9-B4C7094D2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68300"/>
            <a:ext cx="572452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МЕХАНИЗМЫ РЕАЛИЗАЦИИ</a:t>
            </a:r>
          </a:p>
        </p:txBody>
      </p:sp>
      <p:sp>
        <p:nvSpPr>
          <p:cNvPr id="4" name="Текст 12">
            <a:extLst>
              <a:ext uri="{FF2B5EF4-FFF2-40B4-BE49-F238E27FC236}">
                <a16:creationId xmlns:a16="http://schemas.microsoft.com/office/drawing/2014/main" id="{67573E35-F240-101B-E4DE-3D89D4C92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736725"/>
            <a:ext cx="5724525" cy="2492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buClr>
                <a:srgbClr val="FF9A00"/>
              </a:buClr>
              <a:buSzPct val="100000"/>
              <a:buFont typeface="Системный шрифт, обычный"/>
              <a:buNone/>
              <a:defRPr sz="18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Описание механизмов реализации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0D209-AC24-68DE-B5D9-1FF1E820E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97713" y="278121"/>
            <a:ext cx="3222812" cy="59691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7B0FF190-35AB-B5B0-D958-97F5BF67A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518751"/>
            <a:ext cx="572452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810D7-5388-6C6C-3D7F-6DFF13CE8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713" y="6446524"/>
            <a:ext cx="1203324" cy="2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D03296-DD26-C509-6262-504CF742E9F9}"/>
              </a:ext>
            </a:extLst>
          </p:cNvPr>
          <p:cNvSpPr txBox="1"/>
          <p:nvPr userDrawn="1"/>
        </p:nvSpPr>
        <p:spPr>
          <a:xfrm>
            <a:off x="10210799" y="6518751"/>
            <a:ext cx="160972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lnSpc>
                <a:spcPct val="90000"/>
              </a:lnSpc>
            </a:pPr>
            <a:fld id="{7B794551-3B11-E540-97EB-90C0BE6FAB8A}" type="slidenum">
              <a:rPr lang="ru-RU" sz="10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>
                <a:lnSpc>
                  <a:spcPct val="90000"/>
                </a:lnSpc>
              </a:pPr>
              <a:t>‹#›</a:t>
            </a:fld>
            <a:endParaRPr lang="ru-RU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133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3978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109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жидаемые/достигнутые результа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DD6F98-4436-2BC7-81C3-0ED42BBA892E}"/>
              </a:ext>
            </a:extLst>
          </p:cNvPr>
          <p:cNvSpPr/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C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B5CD889C-1573-D675-8BC9-B4C7094D2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68300"/>
            <a:ext cx="6858000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ОЖИДАЕМЫЕ/ДОСТИГНУТЫЕ РЕЗУЛЬТАТЫ</a:t>
            </a:r>
          </a:p>
        </p:txBody>
      </p:sp>
      <p:sp>
        <p:nvSpPr>
          <p:cNvPr id="4" name="Текст 12">
            <a:extLst>
              <a:ext uri="{FF2B5EF4-FFF2-40B4-BE49-F238E27FC236}">
                <a16:creationId xmlns:a16="http://schemas.microsoft.com/office/drawing/2014/main" id="{67573E35-F240-101B-E4DE-3D89D4C92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736725"/>
            <a:ext cx="5724525" cy="2492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buClr>
                <a:srgbClr val="FF9A00"/>
              </a:buClr>
              <a:buSzPct val="100000"/>
              <a:buFont typeface="Системный шрифт, обычный"/>
              <a:buNone/>
              <a:defRPr sz="18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0D209-AC24-68DE-B5D9-1FF1E820E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97713" y="278121"/>
            <a:ext cx="3222812" cy="59691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7B0FF190-35AB-B5B0-D958-97F5BF67A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518751"/>
            <a:ext cx="572452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810D7-5388-6C6C-3D7F-6DFF13CE8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713" y="6446524"/>
            <a:ext cx="1203324" cy="2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8DCDEC-57C2-24C3-2E42-92D5A794473F}"/>
              </a:ext>
            </a:extLst>
          </p:cNvPr>
          <p:cNvSpPr txBox="1"/>
          <p:nvPr userDrawn="1"/>
        </p:nvSpPr>
        <p:spPr>
          <a:xfrm>
            <a:off x="10210799" y="6518751"/>
            <a:ext cx="160972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lnSpc>
                <a:spcPct val="90000"/>
              </a:lnSpc>
            </a:pPr>
            <a:fld id="{7B794551-3B11-E540-97EB-90C0BE6FAB8A}" type="slidenum">
              <a:rPr lang="ru-RU" sz="10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>
                <a:lnSpc>
                  <a:spcPct val="90000"/>
                </a:lnSpc>
              </a:pPr>
              <a:t>‹#›</a:t>
            </a:fld>
            <a:endParaRPr lang="ru-RU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57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3978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109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Экономические расче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DD6F98-4436-2BC7-81C3-0ED42BBA892E}"/>
              </a:ext>
            </a:extLst>
          </p:cNvPr>
          <p:cNvSpPr/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C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B5CD889C-1573-D675-8BC9-B4C7094D2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68300"/>
            <a:ext cx="572452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ЭКОНОМИЧЕСКИЕ РАСЧЕТЫ</a:t>
            </a:r>
          </a:p>
        </p:txBody>
      </p:sp>
      <p:sp>
        <p:nvSpPr>
          <p:cNvPr id="4" name="Текст 12">
            <a:extLst>
              <a:ext uri="{FF2B5EF4-FFF2-40B4-BE49-F238E27FC236}">
                <a16:creationId xmlns:a16="http://schemas.microsoft.com/office/drawing/2014/main" id="{67573E35-F240-101B-E4DE-3D89D4C92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736725"/>
            <a:ext cx="5724525" cy="2492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buClr>
                <a:srgbClr val="FF9A00"/>
              </a:buClr>
              <a:buSzPct val="100000"/>
              <a:buFont typeface="Системный шрифт, обычный"/>
              <a:buNone/>
              <a:defRPr sz="18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Текст, таблицы, расчет эффекта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0D209-AC24-68DE-B5D9-1FF1E820E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97713" y="278121"/>
            <a:ext cx="3222812" cy="59691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7B0FF190-35AB-B5B0-D958-97F5BF67A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518751"/>
            <a:ext cx="572452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810D7-5388-6C6C-3D7F-6DFF13CE8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713" y="6446524"/>
            <a:ext cx="1203324" cy="2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88EA98-7EF8-A21F-5A7A-0A7813842BA1}"/>
              </a:ext>
            </a:extLst>
          </p:cNvPr>
          <p:cNvSpPr txBox="1"/>
          <p:nvPr userDrawn="1"/>
        </p:nvSpPr>
        <p:spPr>
          <a:xfrm>
            <a:off x="10210799" y="6518751"/>
            <a:ext cx="160972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lnSpc>
                <a:spcPct val="90000"/>
              </a:lnSpc>
            </a:pPr>
            <a:fld id="{7B794551-3B11-E540-97EB-90C0BE6FAB8A}" type="slidenum">
              <a:rPr lang="ru-RU" sz="10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>
                <a:lnSpc>
                  <a:spcPct val="90000"/>
                </a:lnSpc>
              </a:pPr>
              <a:t>‹#›</a:t>
            </a:fld>
            <a:endParaRPr lang="ru-RU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728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3978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109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ывод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DD6F98-4436-2BC7-81C3-0ED42BBA892E}"/>
              </a:ext>
            </a:extLst>
          </p:cNvPr>
          <p:cNvSpPr/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C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B5CD889C-1573-D675-8BC9-B4C7094D2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68300"/>
            <a:ext cx="572452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ВЫВОДЫ</a:t>
            </a:r>
          </a:p>
        </p:txBody>
      </p:sp>
      <p:sp>
        <p:nvSpPr>
          <p:cNvPr id="4" name="Текст 12">
            <a:extLst>
              <a:ext uri="{FF2B5EF4-FFF2-40B4-BE49-F238E27FC236}">
                <a16:creationId xmlns:a16="http://schemas.microsoft.com/office/drawing/2014/main" id="{67573E35-F240-101B-E4DE-3D89D4C924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1736725"/>
            <a:ext cx="5724525" cy="249299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buClr>
                <a:srgbClr val="FF9A00"/>
              </a:buClr>
              <a:buSzPct val="100000"/>
              <a:buFont typeface="Системный шрифт, обычный"/>
              <a:buNone/>
              <a:defRPr sz="18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>
              <a:buNone/>
              <a:defRPr/>
            </a:pPr>
            <a:r>
              <a:rPr lang="ru-RU" dirty="0"/>
              <a:t>Описание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0D209-AC24-68DE-B5D9-1FF1E820E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97713" y="278121"/>
            <a:ext cx="3222812" cy="59691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7B0FF190-35AB-B5B0-D958-97F5BF67A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518751"/>
            <a:ext cx="572452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810D7-5388-6C6C-3D7F-6DFF13CE8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713" y="6446524"/>
            <a:ext cx="1203324" cy="2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0ACA092-C7C6-E62B-753F-671A84C6DA69}"/>
              </a:ext>
            </a:extLst>
          </p:cNvPr>
          <p:cNvSpPr txBox="1"/>
          <p:nvPr userDrawn="1"/>
        </p:nvSpPr>
        <p:spPr>
          <a:xfrm>
            <a:off x="10210799" y="6518751"/>
            <a:ext cx="160972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lnSpc>
                <a:spcPct val="90000"/>
              </a:lnSpc>
            </a:pPr>
            <a:fld id="{7B794551-3B11-E540-97EB-90C0BE6FAB8A}" type="slidenum">
              <a:rPr lang="ru-RU" sz="10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>
                <a:lnSpc>
                  <a:spcPct val="90000"/>
                </a:lnSpc>
              </a:pPr>
              <a:t>‹#›</a:t>
            </a:fld>
            <a:endParaRPr lang="ru-RU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533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232" userDrawn="1">
          <p15:clr>
            <a:srgbClr val="FBAE40"/>
          </p15:clr>
        </p15:guide>
        <p15:guide id="4" orient="horz" pos="3978" userDrawn="1">
          <p15:clr>
            <a:srgbClr val="FBAE40"/>
          </p15:clr>
        </p15:guide>
        <p15:guide id="5" pos="234" userDrawn="1">
          <p15:clr>
            <a:srgbClr val="FBAE40"/>
          </p15:clr>
        </p15:guide>
        <p15:guide id="6" pos="7446" userDrawn="1">
          <p15:clr>
            <a:srgbClr val="FBAE40"/>
          </p15:clr>
        </p15:guide>
        <p15:guide id="7" orient="horz" pos="3744" userDrawn="1">
          <p15:clr>
            <a:srgbClr val="FBAE40"/>
          </p15:clr>
        </p15:guide>
        <p15:guide id="8" orient="horz" pos="109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ительный слайд">
    <p:bg>
      <p:bgPr>
        <a:solidFill>
          <a:srgbClr val="1C36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FF9463-7AF9-6A51-98F5-0F8B43AC6452}"/>
              </a:ext>
            </a:extLst>
          </p:cNvPr>
          <p:cNvSpPr txBox="1"/>
          <p:nvPr userDrawn="1"/>
        </p:nvSpPr>
        <p:spPr>
          <a:xfrm>
            <a:off x="371474" y="368300"/>
            <a:ext cx="572452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sz="3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СПАСИБО</a:t>
            </a:r>
            <a:br>
              <a:rPr lang="ru-RU" sz="3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0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 ВНИМАНИЕ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9ADCF7C-BBBD-905A-9C08-40230C2340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40608" y="1625600"/>
            <a:ext cx="6399877" cy="63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762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4088">
          <p15:clr>
            <a:srgbClr val="FBAE40"/>
          </p15:clr>
        </p15:guide>
        <p15:guide id="5" pos="234">
          <p15:clr>
            <a:srgbClr val="FBAE40"/>
          </p15:clr>
        </p15:guide>
        <p15:guide id="6" pos="744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иложени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7DD6F98-4436-2BC7-81C3-0ED42BBA892E}"/>
              </a:ext>
            </a:extLst>
          </p:cNvPr>
          <p:cNvSpPr/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C36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Текст 8">
            <a:extLst>
              <a:ext uri="{FF2B5EF4-FFF2-40B4-BE49-F238E27FC236}">
                <a16:creationId xmlns:a16="http://schemas.microsoft.com/office/drawing/2014/main" id="{B5CD889C-1573-D675-8BC9-B4C7094D2A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68300"/>
            <a:ext cx="5724525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3000" b="0" i="0">
                <a:solidFill>
                  <a:srgbClr val="1C36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ПРИЛОЖЕНИЕ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6B0D209-AC24-68DE-B5D9-1FF1E820E2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597713" y="278121"/>
            <a:ext cx="3222812" cy="596914"/>
          </a:xfrm>
          <a:prstGeom prst="rect">
            <a:avLst/>
          </a:prstGeo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7B0FF190-35AB-B5B0-D958-97F5BF67AB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5" y="6518751"/>
            <a:ext cx="5724525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/>
              <a:t>ТЕМА ПРОИЗВОДСТВЕННОГО ЗАДАНИЯ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47810D7-5388-6C6C-3D7F-6DFF13CE87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97713" y="6446524"/>
            <a:ext cx="1203324" cy="2213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2D7A1BA-ECAD-6D28-E28B-C641AB702E30}"/>
              </a:ext>
            </a:extLst>
          </p:cNvPr>
          <p:cNvSpPr txBox="1"/>
          <p:nvPr userDrawn="1"/>
        </p:nvSpPr>
        <p:spPr>
          <a:xfrm>
            <a:off x="10210799" y="6518751"/>
            <a:ext cx="160972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r">
              <a:lnSpc>
                <a:spcPct val="90000"/>
              </a:lnSpc>
            </a:pPr>
            <a:fld id="{7B794551-3B11-E540-97EB-90C0BE6FAB8A}" type="slidenum">
              <a:rPr lang="ru-RU" sz="1000" b="0" i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lvl="0" algn="r">
                <a:lnSpc>
                  <a:spcPct val="90000"/>
                </a:lnSpc>
              </a:pPr>
              <a:t>‹#›</a:t>
            </a:fld>
            <a:endParaRPr lang="ru-RU" sz="1000" b="0" i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524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2">
          <p15:clr>
            <a:srgbClr val="FBAE40"/>
          </p15:clr>
        </p15:guide>
        <p15:guide id="4" orient="horz" pos="3978">
          <p15:clr>
            <a:srgbClr val="FBAE40"/>
          </p15:clr>
        </p15:guide>
        <p15:guide id="5" pos="234">
          <p15:clr>
            <a:srgbClr val="FBAE40"/>
          </p15:clr>
        </p15:guide>
        <p15:guide id="6" pos="7446">
          <p15:clr>
            <a:srgbClr val="FBAE40"/>
          </p15:clr>
        </p15:guide>
        <p15:guide id="7" orient="horz" pos="3744">
          <p15:clr>
            <a:srgbClr val="FBAE40"/>
          </p15:clr>
        </p15:guide>
        <p15:guide id="8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7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6748B3A-499B-FD77-4E6E-66C9307F05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277200"/>
            <a:ext cx="7553326" cy="997196"/>
          </a:xfrm>
        </p:spPr>
        <p:txBody>
          <a:bodyPr/>
          <a:lstStyle/>
          <a:p>
            <a:r>
              <a:rPr lang="ru-RU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цифровых инструментов по поиску и группировке геохимических и бороздовых проб. На базе </a:t>
            </a:r>
            <a:r>
              <a:rPr lang="ru-RU" sz="2400" b="1" kern="1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ОПиР</a:t>
            </a:r>
            <a:r>
              <a:rPr lang="ru-RU" sz="24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МПИ АО «Золото Северного Урала».</a:t>
            </a:r>
            <a:endParaRPr lang="ru-RU" sz="2400" b="1" kern="100" dirty="0">
              <a:effectLst/>
              <a:latin typeface="Times New Roman" panose="02020603050405020304" pitchFamily="18" charset="0"/>
              <a:ea typeface="Aptos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1BE4EB-3F4B-6E30-FAA3-B01B53888E9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НАСТАВНИК: ФИО, ДОЛЖНОСТЬ, ПРЕДПРИЯТИЕ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E9A792D-D9E0-FDA3-3875-EFBD73752E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3714255"/>
            <a:ext cx="6281874" cy="1147764"/>
          </a:xfrm>
        </p:spPr>
        <p:txBody>
          <a:bodyPr/>
          <a:lstStyle/>
          <a:p>
            <a:r>
              <a:rPr lang="ru-RU" dirty="0"/>
              <a:t>Старыгин Илья Сергеевич, горнорабочий на геологических работах отдела поисков и разведки МПИ АО «Золото Северного Урала»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E688B41-AD64-F0DD-D0F3-228F714E75F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75" y="6324206"/>
            <a:ext cx="5724525" cy="166199"/>
          </a:xfrm>
        </p:spPr>
        <p:txBody>
          <a:bodyPr/>
          <a:lstStyle/>
          <a:p>
            <a:r>
              <a:rPr lang="ru-RU" dirty="0"/>
              <a:t>КУРАТОР: ФИО, ДОЛЖНОСТЬ, ПРЕДПРИЯТИЕ</a:t>
            </a:r>
          </a:p>
        </p:txBody>
      </p:sp>
    </p:spTree>
    <p:extLst>
      <p:ext uri="{BB962C8B-B14F-4D97-AF65-F5344CB8AC3E}">
        <p14:creationId xmlns:p14="http://schemas.microsoft.com/office/powerpoint/2010/main" val="4187561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23F66A7-1D74-76EF-6BE8-78CFDC5B9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4149" y="200750"/>
            <a:ext cx="5724525" cy="332399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</a:rPr>
              <a:t>СОДЕРЖАНИЕ ПРЕЗЕНТАЦИИ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54187A-A3BD-043A-34D6-1EEA936972E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4149" y="1739669"/>
            <a:ext cx="6099175" cy="2386294"/>
          </a:xfrm>
        </p:spPr>
        <p:txBody>
          <a:bodyPr/>
          <a:lstStyle/>
          <a:p>
            <a:r>
              <a:rPr lang="ru-RU" dirty="0"/>
              <a:t>Проблемы текущего подхода.3</a:t>
            </a:r>
          </a:p>
          <a:p>
            <a:r>
              <a:rPr lang="ru-RU" dirty="0"/>
              <a:t>Модель нового подхода 4</a:t>
            </a:r>
          </a:p>
          <a:p>
            <a:r>
              <a:rPr lang="ru-RU" dirty="0"/>
              <a:t>Проблемы текущего подхода </a:t>
            </a:r>
            <a:r>
              <a:rPr lang="ru-RU" kern="100" dirty="0">
                <a:effectLst/>
                <a:ea typeface="Times New Roman" panose="02020603050405020304" pitchFamily="18" charset="0"/>
              </a:rPr>
              <a:t>учета</a:t>
            </a:r>
            <a:r>
              <a:rPr lang="ru-RU" kern="100" dirty="0">
                <a:ea typeface="Times New Roman" panose="02020603050405020304" pitchFamily="18" charset="0"/>
              </a:rPr>
              <a:t> </a:t>
            </a:r>
            <a:r>
              <a:rPr lang="ru-RU" kern="100" dirty="0">
                <a:effectLst/>
                <a:ea typeface="Times New Roman" panose="02020603050405020304" pitchFamily="18" charset="0"/>
              </a:rPr>
              <a:t>и хранения геологических материалов в </a:t>
            </a:r>
            <a:r>
              <a:rPr lang="ru-RU" kern="100" dirty="0" err="1">
                <a:ea typeface="Times New Roman" panose="02020603050405020304" pitchFamily="18" charset="0"/>
              </a:rPr>
              <a:t>ОПиР</a:t>
            </a:r>
            <a:r>
              <a:rPr lang="ru-RU" kern="100" dirty="0">
                <a:effectLst/>
                <a:ea typeface="Times New Roman" panose="02020603050405020304" pitchFamily="18" charset="0"/>
              </a:rPr>
              <a:t> МПИ.5</a:t>
            </a:r>
            <a:endParaRPr lang="ru-RU" dirty="0"/>
          </a:p>
          <a:p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Модель нового подхода по поиску проб. 6</a:t>
            </a:r>
            <a:endParaRPr lang="ru-RU" dirty="0"/>
          </a:p>
          <a:p>
            <a:r>
              <a:rPr lang="ru-RU" dirty="0"/>
              <a:t>Экономический расчеты. 7</a:t>
            </a:r>
          </a:p>
          <a:p>
            <a:r>
              <a:rPr lang="ru-RU" dirty="0"/>
              <a:t>Выводы. 8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0D6947-A42A-0159-BF26-50543112D2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sz="1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цифровых инструментов по поиску и группировке геохимических и бороздовых проб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1896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4FB7A95-1A12-1DD7-B365-806AF24150BC}"/>
              </a:ext>
            </a:extLst>
          </p:cNvPr>
          <p:cNvSpPr/>
          <p:nvPr/>
        </p:nvSpPr>
        <p:spPr>
          <a:xfrm>
            <a:off x="371474" y="2744114"/>
            <a:ext cx="3072326" cy="25666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DA9361B4-1FB5-FE02-0A57-09EAFBD018C2}"/>
              </a:ext>
            </a:extLst>
          </p:cNvPr>
          <p:cNvSpPr/>
          <p:nvPr/>
        </p:nvSpPr>
        <p:spPr>
          <a:xfrm>
            <a:off x="9917203" y="3624945"/>
            <a:ext cx="2236302" cy="26668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56F0673-CCD1-806F-733A-5B18D86E3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860" y="3721889"/>
            <a:ext cx="2098987" cy="2231402"/>
          </a:xfrm>
          <a:prstGeom prst="rect">
            <a:avLst/>
          </a:prstGeom>
        </p:spPr>
      </p:pic>
      <p:sp>
        <p:nvSpPr>
          <p:cNvPr id="2" name="Текст 1">
            <a:extLst>
              <a:ext uri="{FF2B5EF4-FFF2-40B4-BE49-F238E27FC236}">
                <a16:creationId xmlns:a16="http://schemas.microsoft.com/office/drawing/2014/main" id="{400B43B4-45F4-B881-6252-42C51300A7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" y="163465"/>
            <a:ext cx="8262523" cy="664797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</a:rPr>
              <a:t>ПРОБЛЕМЫ ТЕКУЩЕГО ПОДХОДА </a:t>
            </a:r>
            <a:r>
              <a:rPr lang="ru-RU" sz="2400" kern="1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ПО ПОИСКУ И ГРУППИРОВК</a:t>
            </a:r>
            <a:r>
              <a:rPr lang="ru-RU" sz="2400" kern="100" dirty="0">
                <a:solidFill>
                  <a:schemeClr val="tx1"/>
                </a:solidFill>
                <a:ea typeface="Times New Roman" panose="02020603050405020304" pitchFamily="18" charset="0"/>
              </a:rPr>
              <a:t>Е</a:t>
            </a:r>
            <a:r>
              <a:rPr lang="ru-RU" sz="2400" kern="1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ПРОБ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40FD92B-EC61-0922-31B2-E6D225A51B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sz="1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цифровых инструментов по поиску и группировке геохимических и бороздовых проб</a:t>
            </a:r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DA651236-8D4C-F7A2-039E-359C6901AB70}"/>
              </a:ext>
            </a:extLst>
          </p:cNvPr>
          <p:cNvSpPr/>
          <p:nvPr/>
        </p:nvSpPr>
        <p:spPr>
          <a:xfrm>
            <a:off x="6486327" y="2814965"/>
            <a:ext cx="1908314" cy="47081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Пробы поступают общей массой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39580AE-1DA7-8499-F124-16C7163652D4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7440484" y="3285783"/>
            <a:ext cx="0" cy="1255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F6176142-8DD5-3973-48AF-25F308C3D50E}"/>
              </a:ext>
            </a:extLst>
          </p:cNvPr>
          <p:cNvSpPr/>
          <p:nvPr/>
        </p:nvSpPr>
        <p:spPr>
          <a:xfrm>
            <a:off x="6486327" y="3411339"/>
            <a:ext cx="1908314" cy="703834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Сортировка и разделение по наряд-заказам 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97FA8CC5-DAEF-82B0-80E8-456598559D6B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7440484" y="4115173"/>
            <a:ext cx="0" cy="1699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8966074E-DBE8-01CA-79E0-FCAE5933201F}"/>
              </a:ext>
            </a:extLst>
          </p:cNvPr>
          <p:cNvSpPr/>
          <p:nvPr/>
        </p:nvSpPr>
        <p:spPr>
          <a:xfrm>
            <a:off x="6486327" y="4285104"/>
            <a:ext cx="1908314" cy="44154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Фактическая сверка наличия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47C37E3D-A6E0-CBCE-9DAF-85843B42EC99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>
            <a:off x="7440484" y="4726653"/>
            <a:ext cx="0" cy="13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4BCA262-7598-0EA1-6130-4391B8FFB61D}"/>
              </a:ext>
            </a:extLst>
          </p:cNvPr>
          <p:cNvSpPr/>
          <p:nvPr/>
        </p:nvSpPr>
        <p:spPr>
          <a:xfrm>
            <a:off x="6486327" y="4862502"/>
            <a:ext cx="1908314" cy="44154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Отчет и отправка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CB9207-8CDA-03A4-47CC-7221A99991C4}"/>
              </a:ext>
            </a:extLst>
          </p:cNvPr>
          <p:cNvSpPr txBox="1"/>
          <p:nvPr/>
        </p:nvSpPr>
        <p:spPr>
          <a:xfrm>
            <a:off x="371474" y="890256"/>
            <a:ext cx="826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На данный момент проблемой является увеличение количества поступающих проб, в связи с увеличением объемов ГРР (геологически разведывательные работы).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7786C1-4856-C0EB-B1DA-A27A3915D355}"/>
              </a:ext>
            </a:extLst>
          </p:cNvPr>
          <p:cNvSpPr txBox="1"/>
          <p:nvPr/>
        </p:nvSpPr>
        <p:spPr>
          <a:xfrm>
            <a:off x="6226718" y="2306027"/>
            <a:ext cx="25100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Как это происходит сейчас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E8628A-DFFE-F2FD-48EB-38C274A22420}"/>
              </a:ext>
            </a:extLst>
          </p:cNvPr>
          <p:cNvSpPr txBox="1"/>
          <p:nvPr/>
        </p:nvSpPr>
        <p:spPr>
          <a:xfrm>
            <a:off x="3682336" y="2663425"/>
            <a:ext cx="23831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Группировка происходит вручную при помощи бумажных списков. 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B2A6144F-B67E-B3D4-E05B-6DA439924C50}"/>
              </a:ext>
            </a:extLst>
          </p:cNvPr>
          <p:cNvSpPr/>
          <p:nvPr/>
        </p:nvSpPr>
        <p:spPr>
          <a:xfrm>
            <a:off x="9917203" y="914007"/>
            <a:ext cx="2236302" cy="26624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  <a:p>
            <a:pPr algn="ctr"/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844F510-5D7D-C2BB-4E72-E0AEA787F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752" y="1006517"/>
            <a:ext cx="2098987" cy="223734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69111B7-DFDC-CDE0-0433-B833BD5535A2}"/>
              </a:ext>
            </a:extLst>
          </p:cNvPr>
          <p:cNvSpPr txBox="1"/>
          <p:nvPr/>
        </p:nvSpPr>
        <p:spPr>
          <a:xfrm>
            <a:off x="10147525" y="3237919"/>
            <a:ext cx="17674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Бумажные списки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654DAF-503A-167E-F8A2-4C7D9885F3D6}"/>
              </a:ext>
            </a:extLst>
          </p:cNvPr>
          <p:cNvSpPr txBox="1"/>
          <p:nvPr/>
        </p:nvSpPr>
        <p:spPr>
          <a:xfrm>
            <a:off x="3685511" y="3746170"/>
            <a:ext cx="23831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Ручной поиск в больших списках может приводить к ошибкам и пропускам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3AC0DC-A7C9-F525-C42C-C5CE99DC84AF}"/>
              </a:ext>
            </a:extLst>
          </p:cNvPr>
          <p:cNvSpPr txBox="1"/>
          <p:nvPr/>
        </p:nvSpPr>
        <p:spPr>
          <a:xfrm>
            <a:off x="10033605" y="5948857"/>
            <a:ext cx="20989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Поступившие пробы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735F39-D84D-3ED2-4C71-9C87EE1C5C14}"/>
              </a:ext>
            </a:extLst>
          </p:cNvPr>
          <p:cNvSpPr txBox="1"/>
          <p:nvPr/>
        </p:nvSpPr>
        <p:spPr>
          <a:xfrm>
            <a:off x="4248509" y="2312551"/>
            <a:ext cx="11933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Проблемы</a:t>
            </a:r>
          </a:p>
        </p:txBody>
      </p:sp>
      <p:graphicFrame>
        <p:nvGraphicFramePr>
          <p:cNvPr id="39" name="Диаграмма 38">
            <a:extLst>
              <a:ext uri="{FF2B5EF4-FFF2-40B4-BE49-F238E27FC236}">
                <a16:creationId xmlns:a16="http://schemas.microsoft.com/office/drawing/2014/main" id="{E0F9C202-05CD-C16E-317F-55AC9D66AF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4656361"/>
              </p:ext>
            </p:extLst>
          </p:nvPr>
        </p:nvGraphicFramePr>
        <p:xfrm>
          <a:off x="418046" y="2796770"/>
          <a:ext cx="2719009" cy="2566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D92B447E-B2B5-90B9-CACA-E55A7B3D1332}"/>
              </a:ext>
            </a:extLst>
          </p:cNvPr>
          <p:cNvSpPr txBox="1"/>
          <p:nvPr/>
        </p:nvSpPr>
        <p:spPr>
          <a:xfrm>
            <a:off x="478384" y="2308416"/>
            <a:ext cx="31654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График роста поступаемых роб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ECAF06B-E44E-4A3A-82B6-DD4A79EB17E7}"/>
              </a:ext>
            </a:extLst>
          </p:cNvPr>
          <p:cNvSpPr txBox="1"/>
          <p:nvPr/>
        </p:nvSpPr>
        <p:spPr>
          <a:xfrm>
            <a:off x="371474" y="1475031"/>
            <a:ext cx="8023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Текущий метод работы (бумажный) менее эффективный так как количество проб увеличилось и они поступают в смешанном виде.</a:t>
            </a:r>
          </a:p>
        </p:txBody>
      </p:sp>
    </p:spTree>
    <p:extLst>
      <p:ext uri="{BB962C8B-B14F-4D97-AF65-F5344CB8AC3E}">
        <p14:creationId xmlns:p14="http://schemas.microsoft.com/office/powerpoint/2010/main" val="385399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7FBE79F-0F9C-49D8-D543-41AD1F798CB6}"/>
              </a:ext>
            </a:extLst>
          </p:cNvPr>
          <p:cNvSpPr/>
          <p:nvPr/>
        </p:nvSpPr>
        <p:spPr>
          <a:xfrm>
            <a:off x="0" y="2317370"/>
            <a:ext cx="12192000" cy="39988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435BD95D-9A8D-9D13-266E-1681BF6F599D}"/>
              </a:ext>
            </a:extLst>
          </p:cNvPr>
          <p:cNvCxnSpPr>
            <a:cxnSpLocks/>
          </p:cNvCxnSpPr>
          <p:nvPr/>
        </p:nvCxnSpPr>
        <p:spPr>
          <a:xfrm>
            <a:off x="8266947" y="2317370"/>
            <a:ext cx="47211" cy="399882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Текст 1">
            <a:extLst>
              <a:ext uri="{FF2B5EF4-FFF2-40B4-BE49-F238E27FC236}">
                <a16:creationId xmlns:a16="http://schemas.microsoft.com/office/drawing/2014/main" id="{48BD926F-DFF8-F1E8-58EF-E1BFE68EA39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4452" y="190609"/>
            <a:ext cx="4253948" cy="332399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</a:rPr>
              <a:t>МОДЕЛЬ НОВОГО ПОДХОДА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A2DF5DB-E965-E8AC-B303-0C0AEF36F2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sz="1000" b="1" kern="10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цифровых инструментов по поиску и группировке геохимических и бороздовых проб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5EC1719-7A8E-41D6-A2D0-C53F6859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84" y="2693994"/>
            <a:ext cx="2493987" cy="21992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BA2D369-E906-4A6C-8D49-46BC357CAC3E}"/>
              </a:ext>
            </a:extLst>
          </p:cNvPr>
          <p:cNvSpPr txBox="1"/>
          <p:nvPr/>
        </p:nvSpPr>
        <p:spPr>
          <a:xfrm>
            <a:off x="274452" y="590022"/>
            <a:ext cx="182281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1.Загрузка данных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2B1570D-5E02-447A-A562-9C6DBCB8A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7543" y="2693994"/>
            <a:ext cx="2493988" cy="219928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CED4F1-2B19-49F4-AFD1-EEB4F9AD8B46}"/>
              </a:ext>
            </a:extLst>
          </p:cNvPr>
          <p:cNvSpPr txBox="1"/>
          <p:nvPr/>
        </p:nvSpPr>
        <p:spPr>
          <a:xfrm>
            <a:off x="3233737" y="574633"/>
            <a:ext cx="1525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2.Поиск проб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DD890ED-32F8-CBCF-888B-077B91D2D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279" y="2757156"/>
            <a:ext cx="2493988" cy="21926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1C0229-ACEB-0D9F-9D86-FBF3748F1E94}"/>
              </a:ext>
            </a:extLst>
          </p:cNvPr>
          <p:cNvSpPr txBox="1"/>
          <p:nvPr/>
        </p:nvSpPr>
        <p:spPr>
          <a:xfrm>
            <a:off x="5302914" y="560512"/>
            <a:ext cx="23044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3.Результат поиска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5D4A18F-FA3E-8382-CC5E-AED0C16431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3639" y="2757156"/>
            <a:ext cx="2493988" cy="2189014"/>
          </a:xfrm>
          <a:prstGeom prst="rect">
            <a:avLst/>
          </a:prstGeom>
        </p:spPr>
      </p:pic>
      <p:sp>
        <p:nvSpPr>
          <p:cNvPr id="19" name="Текст 2">
            <a:extLst>
              <a:ext uri="{FF2B5EF4-FFF2-40B4-BE49-F238E27FC236}">
                <a16:creationId xmlns:a16="http://schemas.microsoft.com/office/drawing/2014/main" id="{6C5216AD-C969-843E-AA3A-F51CFA25896A}"/>
              </a:ext>
            </a:extLst>
          </p:cNvPr>
          <p:cNvSpPr txBox="1">
            <a:spLocks/>
          </p:cNvSpPr>
          <p:nvPr/>
        </p:nvSpPr>
        <p:spPr>
          <a:xfrm>
            <a:off x="157984" y="5135646"/>
            <a:ext cx="7275423" cy="117057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9A00"/>
              </a:buClr>
              <a:buSzPct val="100000"/>
              <a:buFont typeface="Системный шрифт, обычный"/>
              <a:buNone/>
              <a:defRPr sz="1800" b="0" i="0" kern="1200">
                <a:solidFill>
                  <a:srgbClr val="1C366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600" dirty="0">
                <a:solidFill>
                  <a:schemeClr val="bg1"/>
                </a:solidFill>
              </a:rPr>
              <a:t>Дополнительные функции:</a:t>
            </a:r>
          </a:p>
          <a:p>
            <a:r>
              <a:rPr lang="ru-RU" sz="1600" dirty="0">
                <a:solidFill>
                  <a:schemeClr val="bg1"/>
                </a:solidFill>
              </a:rPr>
              <a:t>Напоминание о контрольном весе, автоматический расчет холостых проб;</a:t>
            </a:r>
          </a:p>
          <a:p>
            <a:r>
              <a:rPr lang="ru-RU" sz="1600" dirty="0">
                <a:solidFill>
                  <a:schemeClr val="bg1"/>
                </a:solidFill>
              </a:rPr>
              <a:t>голосовое управление (в разработке), заметки. </a:t>
            </a:r>
            <a:br>
              <a:rPr lang="ru-RU" dirty="0"/>
            </a:b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33F372-13BE-CB4F-0FE5-0F8B171849AD}"/>
              </a:ext>
            </a:extLst>
          </p:cNvPr>
          <p:cNvSpPr txBox="1"/>
          <p:nvPr/>
        </p:nvSpPr>
        <p:spPr>
          <a:xfrm>
            <a:off x="274452" y="1001352"/>
            <a:ext cx="22610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ea typeface="Times New Roman" panose="02020603050405020304" pitchFamily="18" charset="0"/>
              </a:rPr>
              <a:t>Файл с описью проб загружается в базу данных программы</a:t>
            </a:r>
            <a:endParaRPr lang="ru-RU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3F1175-3E67-AAA4-0BE3-FABA1E8513E3}"/>
              </a:ext>
            </a:extLst>
          </p:cNvPr>
          <p:cNvSpPr txBox="1"/>
          <p:nvPr/>
        </p:nvSpPr>
        <p:spPr>
          <a:xfrm>
            <a:off x="2751903" y="980610"/>
            <a:ext cx="20772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ea typeface="Times New Roman" panose="02020603050405020304" pitchFamily="18" charset="0"/>
              </a:rPr>
              <a:t>Сотрудник вводит номер пробы, программа выдает номер наряда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9BAFD-DA43-5047-E52A-B1F89B65BD70}"/>
              </a:ext>
            </a:extLst>
          </p:cNvPr>
          <p:cNvSpPr txBox="1"/>
          <p:nvPr/>
        </p:nvSpPr>
        <p:spPr>
          <a:xfrm>
            <a:off x="5302914" y="7653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CC7CF6-3F0A-9A1B-73A9-538045E3A421}"/>
              </a:ext>
            </a:extLst>
          </p:cNvPr>
          <p:cNvSpPr txBox="1"/>
          <p:nvPr/>
        </p:nvSpPr>
        <p:spPr>
          <a:xfrm>
            <a:off x="5045580" y="962822"/>
            <a:ext cx="23878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ea typeface="Times New Roman" panose="02020603050405020304" pitchFamily="18" charset="0"/>
              </a:rPr>
              <a:t>Сотруднику остается только отнести пробу в указанный программой наряд-заказ.</a:t>
            </a:r>
            <a:endParaRPr lang="ru-RU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019478-5A23-BCBC-661E-67E2DFFD935D}"/>
              </a:ext>
            </a:extLst>
          </p:cNvPr>
          <p:cNvSpPr txBox="1"/>
          <p:nvPr/>
        </p:nvSpPr>
        <p:spPr>
          <a:xfrm>
            <a:off x="2313299" y="2303244"/>
            <a:ext cx="3210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Так это выглядит в приложении</a:t>
            </a:r>
          </a:p>
        </p:txBody>
      </p:sp>
      <p:sp>
        <p:nvSpPr>
          <p:cNvPr id="21" name="Стрелка: шеврон 20">
            <a:extLst>
              <a:ext uri="{FF2B5EF4-FFF2-40B4-BE49-F238E27FC236}">
                <a16:creationId xmlns:a16="http://schemas.microsoft.com/office/drawing/2014/main" id="{B60634BB-4B48-48F5-A5B0-3BE41A191403}"/>
              </a:ext>
            </a:extLst>
          </p:cNvPr>
          <p:cNvSpPr/>
          <p:nvPr/>
        </p:nvSpPr>
        <p:spPr>
          <a:xfrm>
            <a:off x="2528507" y="886987"/>
            <a:ext cx="225345" cy="500149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2" name="Стрелка: шеврон 21">
            <a:extLst>
              <a:ext uri="{FF2B5EF4-FFF2-40B4-BE49-F238E27FC236}">
                <a16:creationId xmlns:a16="http://schemas.microsoft.com/office/drawing/2014/main" id="{39F7E998-C9F2-23A1-CB28-C19A05A6C24B}"/>
              </a:ext>
            </a:extLst>
          </p:cNvPr>
          <p:cNvSpPr/>
          <p:nvPr/>
        </p:nvSpPr>
        <p:spPr>
          <a:xfrm>
            <a:off x="4800734" y="886987"/>
            <a:ext cx="225345" cy="500149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F12674-8146-0498-C584-19E5CC6E1067}"/>
              </a:ext>
            </a:extLst>
          </p:cNvPr>
          <p:cNvSpPr txBox="1"/>
          <p:nvPr/>
        </p:nvSpPr>
        <p:spPr>
          <a:xfrm>
            <a:off x="8561645" y="2317370"/>
            <a:ext cx="29579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А так это выглядит в работе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78F242C-2C2B-6164-E57E-09B714D8DA2E}"/>
              </a:ext>
            </a:extLst>
          </p:cNvPr>
          <p:cNvSpPr txBox="1"/>
          <p:nvPr/>
        </p:nvSpPr>
        <p:spPr>
          <a:xfrm>
            <a:off x="8561645" y="5047402"/>
            <a:ext cx="29579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Быстро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/>
                </a:solidFill>
              </a:rPr>
              <a:t>Без ошибок и без кипы бумаг</a:t>
            </a:r>
          </a:p>
        </p:txBody>
      </p:sp>
    </p:spTree>
    <p:extLst>
      <p:ext uri="{BB962C8B-B14F-4D97-AF65-F5344CB8AC3E}">
        <p14:creationId xmlns:p14="http://schemas.microsoft.com/office/powerpoint/2010/main" val="343976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4CDC14D8-AB48-0751-E3DF-A75B8D15E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 err="1"/>
              <a:t>ДЕмонстрация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891E96-BA02-CFC1-973C-AB66592846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B1DB1-E849-051D-103C-DCEB5BAF7357}"/>
              </a:ext>
            </a:extLst>
          </p:cNvPr>
          <p:cNvSpPr txBox="1"/>
          <p:nvPr/>
        </p:nvSpPr>
        <p:spPr>
          <a:xfrm>
            <a:off x="371475" y="1202635"/>
            <a:ext cx="4538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Интерфейс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774EEC-4540-457D-1C96-A6EFAB3889DD}"/>
              </a:ext>
            </a:extLst>
          </p:cNvPr>
          <p:cNvSpPr txBox="1"/>
          <p:nvPr/>
        </p:nvSpPr>
        <p:spPr>
          <a:xfrm>
            <a:off x="7136296" y="1003852"/>
            <a:ext cx="3896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реале</a:t>
            </a:r>
          </a:p>
        </p:txBody>
      </p:sp>
    </p:spTree>
    <p:extLst>
      <p:ext uri="{BB962C8B-B14F-4D97-AF65-F5344CB8AC3E}">
        <p14:creationId xmlns:p14="http://schemas.microsoft.com/office/powerpoint/2010/main" val="3268389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F682994-E10D-B6A7-8307-371EF062B442}"/>
              </a:ext>
            </a:extLst>
          </p:cNvPr>
          <p:cNvSpPr/>
          <p:nvPr/>
        </p:nvSpPr>
        <p:spPr>
          <a:xfrm>
            <a:off x="6016098" y="1538983"/>
            <a:ext cx="2672387" cy="273978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9B15A940-7C1A-AF04-D870-7485E08038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9208" y="204010"/>
            <a:ext cx="8365021" cy="664797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</a:rPr>
              <a:t>ПРОБЛЕМЫ ТЕКУЩЕГО ПОДХОДА </a:t>
            </a:r>
            <a:r>
              <a:rPr lang="ru-RU" sz="2400" kern="1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УЧЕТА</a:t>
            </a:r>
            <a:r>
              <a:rPr lang="ru-RU" sz="2400" kern="100" dirty="0">
                <a:solidFill>
                  <a:schemeClr val="tx1"/>
                </a:solidFill>
                <a:ea typeface="Times New Roman" panose="02020603050405020304" pitchFamily="18" charset="0"/>
              </a:rPr>
              <a:t> </a:t>
            </a:r>
            <a:r>
              <a:rPr lang="ru-RU" sz="2400" kern="1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И ХРАНЕНИЯ ГЕОЛОГИЧЕСКИХ МАТЕРИАЛОВ В ОПИР МПИ</a:t>
            </a:r>
            <a:endParaRPr lang="ru-RU" sz="2400" dirty="0">
              <a:solidFill>
                <a:schemeClr val="tx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C1E70E-13B3-4CC6-7A91-DEBF98DDB8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208" y="948676"/>
            <a:ext cx="11940416" cy="793038"/>
          </a:xfrm>
        </p:spPr>
        <p:txBody>
          <a:bodyPr/>
          <a:lstStyle/>
          <a:p>
            <a:r>
              <a:rPr lang="ru-RU" sz="1600" dirty="0">
                <a:solidFill>
                  <a:schemeClr val="tx1"/>
                </a:solidFill>
              </a:rPr>
              <a:t>В настоящее время хранение геологических материалов на базе ОПиР МПИ не систематизировано, а эффективные инструменты их отслеживания отсутствуют. </a:t>
            </a:r>
          </a:p>
          <a:p>
            <a:r>
              <a:rPr lang="ru-RU" sz="1600" dirty="0">
                <a:solidFill>
                  <a:schemeClr val="tx1"/>
                </a:solidFill>
              </a:rPr>
              <a:t>Это приводит к следующим проблемам: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9EA7CF6-EF73-0CC4-206D-F3F7A15ED7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sz="1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цифровых инструментов по поиску и группировке геохимических и бороздовых проб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2F55DE-D9A6-9185-A0D4-1154489D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87431"/>
            <a:ext cx="2503691" cy="22930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DC50D9-83FA-762C-2BDE-A96486AD2459}"/>
              </a:ext>
            </a:extLst>
          </p:cNvPr>
          <p:cNvSpPr txBox="1"/>
          <p:nvPr/>
        </p:nvSpPr>
        <p:spPr>
          <a:xfrm>
            <a:off x="129208" y="1910427"/>
            <a:ext cx="43208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FF0000"/>
                </a:solidFill>
              </a:rPr>
              <a:t>Затраты времени </a:t>
            </a:r>
            <a:r>
              <a:rPr lang="ru-RU" sz="1600" dirty="0"/>
              <a:t>на выборку проб для дополнительных исследований составляют от 1 до 2 рабочих дней.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3A4959-2927-4F6B-B364-7B24415A10A9}"/>
              </a:ext>
            </a:extLst>
          </p:cNvPr>
          <p:cNvSpPr txBox="1"/>
          <p:nvPr/>
        </p:nvSpPr>
        <p:spPr>
          <a:xfrm>
            <a:off x="129208" y="2756249"/>
            <a:ext cx="52292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Поиск материалов осложняется отсутствием единой базы данных. </a:t>
            </a:r>
          </a:p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A6D77D-F688-3666-D5F6-9E99DA5EF5C5}"/>
              </a:ext>
            </a:extLst>
          </p:cNvPr>
          <p:cNvSpPr txBox="1"/>
          <p:nvPr/>
        </p:nvSpPr>
        <p:spPr>
          <a:xfrm>
            <a:off x="6800309" y="1504526"/>
            <a:ext cx="26997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Текущая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C6ED772-251B-6CCE-66D7-214180AC33D3}"/>
              </a:ext>
            </a:extLst>
          </p:cNvPr>
          <p:cNvSpPr/>
          <p:nvPr/>
        </p:nvSpPr>
        <p:spPr>
          <a:xfrm>
            <a:off x="8688485" y="1538983"/>
            <a:ext cx="2699716" cy="273978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28B80F5-5205-3C1C-EEA7-525680F07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279" y="1887431"/>
            <a:ext cx="2503691" cy="22930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E7E104E-E2CE-E022-E00B-EE4B174D3EF6}"/>
              </a:ext>
            </a:extLst>
          </p:cNvPr>
          <p:cNvSpPr txBox="1"/>
          <p:nvPr/>
        </p:nvSpPr>
        <p:spPr>
          <a:xfrm>
            <a:off x="9346153" y="1518137"/>
            <a:ext cx="1497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Предлагаемая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3BF806-112D-754F-C720-13D22DAC0704}"/>
              </a:ext>
            </a:extLst>
          </p:cNvPr>
          <p:cNvSpPr/>
          <p:nvPr/>
        </p:nvSpPr>
        <p:spPr>
          <a:xfrm>
            <a:off x="6016098" y="1179583"/>
            <a:ext cx="5372103" cy="33855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DA597F-C768-E058-C206-F375A24529CD}"/>
              </a:ext>
            </a:extLst>
          </p:cNvPr>
          <p:cNvSpPr txBox="1"/>
          <p:nvPr/>
        </p:nvSpPr>
        <p:spPr>
          <a:xfrm>
            <a:off x="7699357" y="1190535"/>
            <a:ext cx="18006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</a:rPr>
              <a:t>Системы хранения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2BFE37-56D8-D6D1-ECE4-683C8DF717D6}"/>
              </a:ext>
            </a:extLst>
          </p:cNvPr>
          <p:cNvSpPr txBox="1"/>
          <p:nvPr/>
        </p:nvSpPr>
        <p:spPr>
          <a:xfrm>
            <a:off x="129208" y="3381176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Мы предлагаем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3821A5-63BD-3B30-280E-68F749986134}"/>
              </a:ext>
            </a:extLst>
          </p:cNvPr>
          <p:cNvSpPr txBox="1"/>
          <p:nvPr/>
        </p:nvSpPr>
        <p:spPr>
          <a:xfrm>
            <a:off x="101134" y="3740569"/>
            <a:ext cx="5285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систематизировать и упорядочить хранящиеся и поступающие геологические материалы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FF701-9E72-6CF8-C463-D6B6FD8411F1}"/>
              </a:ext>
            </a:extLst>
          </p:cNvPr>
          <p:cNvSpPr txBox="1"/>
          <p:nvPr/>
        </p:nvSpPr>
        <p:spPr>
          <a:xfrm>
            <a:off x="129208" y="4340170"/>
            <a:ext cx="4721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создать общую адресную базу данных по их хранению.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548E43-6FCD-C51E-002F-CAED45455F5A}"/>
              </a:ext>
            </a:extLst>
          </p:cNvPr>
          <p:cNvSpPr txBox="1"/>
          <p:nvPr/>
        </p:nvSpPr>
        <p:spPr>
          <a:xfrm>
            <a:off x="101134" y="4933634"/>
            <a:ext cx="47210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Склад №2 → Стеллаж B-12 → Ячейка 4-7</a:t>
            </a:r>
            <a:endParaRPr lang="ru-RU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4945EF-3BE1-23CF-C7F3-EB79D570CC6B}"/>
              </a:ext>
            </a:extLst>
          </p:cNvPr>
          <p:cNvSpPr txBox="1"/>
          <p:nvPr/>
        </p:nvSpPr>
        <p:spPr>
          <a:xfrm>
            <a:off x="129208" y="5317745"/>
            <a:ext cx="4721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Внедрить цифровой инструмент по поиску в этой базе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2986442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id="{A2427C4A-64B4-16C2-C90B-EC1E2D0333D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ru-RU" sz="1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цифровых инструментов по поиску и группировке геохимических и бороздовых проб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6B275E-0B0B-CBD4-E187-6C2A7FFF9F5A}"/>
              </a:ext>
            </a:extLst>
          </p:cNvPr>
          <p:cNvSpPr txBox="1"/>
          <p:nvPr/>
        </p:nvSpPr>
        <p:spPr>
          <a:xfrm>
            <a:off x="66834" y="85691"/>
            <a:ext cx="5824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Модель нового подхода по поиску проб</a:t>
            </a:r>
          </a:p>
          <a:p>
            <a:endParaRPr lang="ru-RU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570EAA-5C69-316F-AED7-5B6CC610E501}"/>
              </a:ext>
            </a:extLst>
          </p:cNvPr>
          <p:cNvSpPr txBox="1"/>
          <p:nvPr/>
        </p:nvSpPr>
        <p:spPr>
          <a:xfrm>
            <a:off x="91224" y="470877"/>
            <a:ext cx="598038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Приложение для поиска проб в помещениях по хранению геологических материалов</a:t>
            </a:r>
            <a:br>
              <a:rPr lang="ru-RU" dirty="0"/>
            </a:br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A02452-041C-0083-EA22-F7080CCD5D54}"/>
              </a:ext>
            </a:extLst>
          </p:cNvPr>
          <p:cNvSpPr txBox="1"/>
          <p:nvPr/>
        </p:nvSpPr>
        <p:spPr>
          <a:xfrm>
            <a:off x="91224" y="977284"/>
            <a:ext cx="3607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Как это будет работать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ABD833-39E1-5105-8B45-82A8087D71C4}"/>
              </a:ext>
            </a:extLst>
          </p:cNvPr>
          <p:cNvSpPr txBox="1"/>
          <p:nvPr/>
        </p:nvSpPr>
        <p:spPr>
          <a:xfrm>
            <a:off x="91224" y="1346616"/>
            <a:ext cx="4065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1. Сначала данные заносятся в систему.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B17DE-CF41-53C5-3258-40E4CEC0CEA7}"/>
              </a:ext>
            </a:extLst>
          </p:cNvPr>
          <p:cNvSpPr txBox="1"/>
          <p:nvPr/>
        </p:nvSpPr>
        <p:spPr>
          <a:xfrm>
            <a:off x="4156328" y="1362300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 После человек вводит в приложении номер необходимой пробы и получает ее точное место положение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B10648-A474-AF86-C5B0-E3A09A74C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5318"/>
          <a:stretch/>
        </p:blipFill>
        <p:spPr>
          <a:xfrm>
            <a:off x="191146" y="1750219"/>
            <a:ext cx="3965182" cy="430467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0054845-CF5D-9BFA-AB97-F44DCCE0EA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4779" y="2113447"/>
            <a:ext cx="7583669" cy="154462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4316E3-32C6-1255-0310-09A07FD41BB7}"/>
              </a:ext>
            </a:extLst>
          </p:cNvPr>
          <p:cNvSpPr txBox="1"/>
          <p:nvPr/>
        </p:nvSpPr>
        <p:spPr>
          <a:xfrm>
            <a:off x="4156328" y="3984740"/>
            <a:ext cx="65026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Это помогает в поиске проб для дополнительных исследований. </a:t>
            </a:r>
            <a:br>
              <a:rPr lang="ru-RU" sz="1600" dirty="0"/>
            </a:br>
            <a:r>
              <a:rPr lang="ru-RU" sz="1600" dirty="0"/>
              <a:t>Увеличение количества проб для выборки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CE2E66-ED57-4D94-6341-8970DF7AB91F}"/>
              </a:ext>
            </a:extLst>
          </p:cNvPr>
          <p:cNvSpPr txBox="1"/>
          <p:nvPr/>
        </p:nvSpPr>
        <p:spPr>
          <a:xfrm>
            <a:off x="4181086" y="4587759"/>
            <a:ext cx="6368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Так же это помогает систематизировать хранимые геологические материалы</a:t>
            </a:r>
          </a:p>
        </p:txBody>
      </p:sp>
    </p:spTree>
    <p:extLst>
      <p:ext uri="{BB962C8B-B14F-4D97-AF65-F5344CB8AC3E}">
        <p14:creationId xmlns:p14="http://schemas.microsoft.com/office/powerpoint/2010/main" val="2508488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B46E091-7161-57DC-B9E1-6DD2E603FE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демонстрация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295D659-BB8D-BF60-81D0-EC8FD78DE4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096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7787B627-F343-E3BA-BAE7-F57BBB8528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8296" y="191176"/>
            <a:ext cx="8560676" cy="997196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</a:rPr>
              <a:t>ЭКОНОМИЧЕСКИЕ</a:t>
            </a:r>
            <a:br>
              <a:rPr lang="ru-RU" sz="2400" dirty="0">
                <a:solidFill>
                  <a:schemeClr val="tx1"/>
                </a:solidFill>
              </a:rPr>
            </a:br>
            <a:r>
              <a:rPr lang="ru-RU" sz="2400" dirty="0">
                <a:solidFill>
                  <a:schemeClr val="tx1"/>
                </a:solidFill>
              </a:rPr>
              <a:t>РАСЧЕТЫ ЦИФРОВОЙ СИСТЕМЫ УЧЕТА И ХРАНЕНИЯ ГЕОЛОГИЧЕСКИХ МАТЕРИАЛОВ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ABE642-8E57-C1FF-893F-7C3FF171F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78296" y="1236395"/>
            <a:ext cx="10364495" cy="830998"/>
          </a:xfrm>
        </p:spPr>
        <p:txBody>
          <a:bodyPr/>
          <a:lstStyle/>
          <a:p>
            <a:r>
              <a:rPr lang="ru-RU" sz="1600" dirty="0">
                <a:solidFill>
                  <a:schemeClr val="tx1"/>
                </a:solidFill>
              </a:rPr>
              <a:t>Основными плюсами данных нововведений становится повышение производительности при увеличении ГРР. Сокращение ошибок.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ADAA62C-FCAC-669E-EDF5-A7CEAE187ED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475" y="6518751"/>
            <a:ext cx="5724525" cy="138499"/>
          </a:xfrm>
        </p:spPr>
        <p:txBody>
          <a:bodyPr/>
          <a:lstStyle/>
          <a:p>
            <a:r>
              <a:rPr lang="ru-RU" sz="10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Интеграция цифровых инструментов по поиску и группировке геохимических и бороздовых проб</a:t>
            </a:r>
            <a:endParaRPr lang="ru-RU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9E08DEEB-6DDB-D0B9-0092-CCFDF968D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32009"/>
              </p:ext>
            </p:extLst>
          </p:nvPr>
        </p:nvGraphicFramePr>
        <p:xfrm>
          <a:off x="258534" y="2513490"/>
          <a:ext cx="3815626" cy="1568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4199">
                  <a:extLst>
                    <a:ext uri="{9D8B030D-6E8A-4147-A177-3AD203B41FA5}">
                      <a16:colId xmlns:a16="http://schemas.microsoft.com/office/drawing/2014/main" val="1596672310"/>
                    </a:ext>
                  </a:extLst>
                </a:gridCol>
                <a:gridCol w="1791427">
                  <a:extLst>
                    <a:ext uri="{9D8B030D-6E8A-4147-A177-3AD203B41FA5}">
                      <a16:colId xmlns:a16="http://schemas.microsoft.com/office/drawing/2014/main" val="2430799284"/>
                    </a:ext>
                  </a:extLst>
                </a:gridCol>
              </a:tblGrid>
              <a:tr h="3575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Группировка проб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Кол-во проб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2296490"/>
                  </a:ext>
                </a:extLst>
              </a:tr>
              <a:tr h="604251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Без приложения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600 шт.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408625"/>
                  </a:ext>
                </a:extLst>
              </a:tr>
              <a:tr h="60681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 приложением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900 шт.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2841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7B06185-4323-C2EA-8843-F098AFB2F3E3}"/>
              </a:ext>
            </a:extLst>
          </p:cNvPr>
          <p:cNvSpPr txBox="1"/>
          <p:nvPr/>
        </p:nvSpPr>
        <p:spPr>
          <a:xfrm>
            <a:off x="205589" y="1720880"/>
            <a:ext cx="36377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Таблица 1. Сравнение количества обработанных проб</a:t>
            </a:r>
          </a:p>
          <a:p>
            <a:r>
              <a:rPr lang="ru-RU" sz="1600" dirty="0"/>
              <a:t>В среднем на 2-х рабочих за 1 смену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BDC5F9B7-7B19-CD77-56CA-6D4ACAF771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8581647"/>
              </p:ext>
            </p:extLst>
          </p:nvPr>
        </p:nvGraphicFramePr>
        <p:xfrm>
          <a:off x="4313583" y="1969964"/>
          <a:ext cx="2646941" cy="2112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A6A5C84-CE6F-438E-6962-8C7D65D9C95E}"/>
              </a:ext>
            </a:extLst>
          </p:cNvPr>
          <p:cNvSpPr txBox="1"/>
          <p:nvPr/>
        </p:nvSpPr>
        <p:spPr>
          <a:xfrm>
            <a:off x="7235687" y="1969964"/>
            <a:ext cx="29618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Видимое повышение в производительности на 30%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9DC5BB-333D-0E21-F52D-EE480989A5F8}"/>
              </a:ext>
            </a:extLst>
          </p:cNvPr>
          <p:cNvSpPr txBox="1"/>
          <p:nvPr/>
        </p:nvSpPr>
        <p:spPr>
          <a:xfrm>
            <a:off x="205588" y="4184374"/>
            <a:ext cx="41079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Таблица 2. Сравнение затраченного времени на поиск проб для дополнительного исследования.</a:t>
            </a:r>
          </a:p>
        </p:txBody>
      </p:sp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FF1E9A26-713C-CFC5-0681-9C1DD3990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73615"/>
              </p:ext>
            </p:extLst>
          </p:nvPr>
        </p:nvGraphicFramePr>
        <p:xfrm>
          <a:off x="249582" y="4820514"/>
          <a:ext cx="3824578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2289">
                  <a:extLst>
                    <a:ext uri="{9D8B030D-6E8A-4147-A177-3AD203B41FA5}">
                      <a16:colId xmlns:a16="http://schemas.microsoft.com/office/drawing/2014/main" val="2159971255"/>
                    </a:ext>
                  </a:extLst>
                </a:gridCol>
                <a:gridCol w="1912289">
                  <a:extLst>
                    <a:ext uri="{9D8B030D-6E8A-4147-A177-3AD203B41FA5}">
                      <a16:colId xmlns:a16="http://schemas.microsoft.com/office/drawing/2014/main" val="3900935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Поиск проб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Время на поиск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6627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Без приложения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2533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/>
                        <a:t>С приложением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920091"/>
                  </a:ext>
                </a:extLst>
              </a:tr>
            </a:tbl>
          </a:graphicData>
        </a:graphic>
      </p:graphicFrame>
      <p:graphicFrame>
        <p:nvGraphicFramePr>
          <p:cNvPr id="15" name="Диаграмма 14">
            <a:extLst>
              <a:ext uri="{FF2B5EF4-FFF2-40B4-BE49-F238E27FC236}">
                <a16:creationId xmlns:a16="http://schemas.microsoft.com/office/drawing/2014/main" id="{08A95C34-ECAA-0B69-1CA9-4658F6C735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6956508"/>
              </p:ext>
            </p:extLst>
          </p:nvPr>
        </p:nvGraphicFramePr>
        <p:xfrm>
          <a:off x="4357577" y="4082099"/>
          <a:ext cx="2602947" cy="2112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F37EE53-AE27-8736-B8C5-EEAE0C9B9763}"/>
              </a:ext>
            </a:extLst>
          </p:cNvPr>
          <p:cNvSpPr txBox="1"/>
          <p:nvPr/>
        </p:nvSpPr>
        <p:spPr>
          <a:xfrm>
            <a:off x="7406640" y="4328160"/>
            <a:ext cx="2790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Сокращение времени на поиск проб.</a:t>
            </a:r>
          </a:p>
        </p:txBody>
      </p:sp>
    </p:spTree>
    <p:extLst>
      <p:ext uri="{BB962C8B-B14F-4D97-AF65-F5344CB8AC3E}">
        <p14:creationId xmlns:p14="http://schemas.microsoft.com/office/powerpoint/2010/main" val="25703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12A415C8-7939-3143-3C31-6D61F52D3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5737" y="327991"/>
            <a:ext cx="5724525" cy="332399"/>
          </a:xfrm>
        </p:spPr>
        <p:txBody>
          <a:bodyPr/>
          <a:lstStyle/>
          <a:p>
            <a:r>
              <a:rPr lang="ru-RU" sz="2400" dirty="0">
                <a:solidFill>
                  <a:schemeClr val="tx1"/>
                </a:solidFill>
              </a:rPr>
              <a:t>ВЫВОДЫ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812A9-D9B3-791D-AC91-857FCF034B78}"/>
              </a:ext>
            </a:extLst>
          </p:cNvPr>
          <p:cNvSpPr txBox="1"/>
          <p:nvPr/>
        </p:nvSpPr>
        <p:spPr>
          <a:xfrm>
            <a:off x="185737" y="867089"/>
            <a:ext cx="9899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Автоматизация </a:t>
            </a:r>
            <a:r>
              <a:rPr lang="ru-RU" sz="1800" dirty="0"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процессов</a:t>
            </a:r>
            <a:r>
              <a:rPr lang="ru-RU" dirty="0"/>
              <a:t> в условиях роста ГРР позволяет своевременно справляется с увеличивающимся объемом работ. </a:t>
            </a:r>
          </a:p>
          <a:p>
            <a:r>
              <a:rPr lang="ru-RU" sz="1800" dirty="0">
                <a:solidFill>
                  <a:schemeClr val="tx1"/>
                </a:solidFill>
              </a:rPr>
              <a:t>Ускоряя рабочие процессы что позволяет перераспределять рабочее время более эффективно.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5674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12373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</TotalTime>
  <Words>632</Words>
  <Application>Microsoft Office PowerPoint</Application>
  <PresentationFormat>Широкоэкранный</PresentationFormat>
  <Paragraphs>99</Paragraphs>
  <Slides>11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Arial</vt:lpstr>
      <vt:lpstr>Times New Roman</vt:lpstr>
      <vt:lpstr>Системный шрифт, обычный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1157</dc:creator>
  <cp:lastModifiedBy>Старыгин Илья Сергеевич</cp:lastModifiedBy>
  <cp:revision>43</cp:revision>
  <dcterms:created xsi:type="dcterms:W3CDTF">2024-09-09T09:12:58Z</dcterms:created>
  <dcterms:modified xsi:type="dcterms:W3CDTF">2026-09-15T11:51:34Z</dcterms:modified>
</cp:coreProperties>
</file>